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1645920"/>
            <a:ext cx="7772400" cy="2743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783080"/>
            <a:ext cx="74980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DATA ANALYSIS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320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5D5B2"/>
                </a:solidFill>
                <a:latin typeface="Calibri"/>
              </a:rPr>
              <a:t>Month 3: Data Science &amp;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24612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8F3DC"/>
                </a:solidFill>
                <a:latin typeface="Calibri"/>
              </a:rPr>
              <a:t>5 End-to-End Projects  |  Python  |  pandas  |  scikit-learn  |  19,000+ Records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145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3657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5D5B2"/>
                </a:solidFill>
                <a:latin typeface="Calibri"/>
              </a:rPr>
              <a:t>PORTFOLIO
STATS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1463040"/>
            <a:ext cx="3291840" cy="10058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536192"/>
            <a:ext cx="329184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986076"/>
            <a:ext cx="329184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  <a:latin typeface="Calibri"/>
              </a:rPr>
              <a:t>Projects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651760"/>
            <a:ext cx="3291840" cy="10058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724912"/>
            <a:ext cx="329184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19K+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174796"/>
            <a:ext cx="329184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  <a:latin typeface="Calibri"/>
              </a:rPr>
              <a:t>Records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3840480"/>
            <a:ext cx="3291840" cy="10058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3913632"/>
            <a:ext cx="329184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363516"/>
            <a:ext cx="329184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  <a:latin typeface="Calibri"/>
              </a:rPr>
              <a:t>Charts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5029200"/>
            <a:ext cx="3291840" cy="10058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5102352"/>
            <a:ext cx="329184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5552236"/>
            <a:ext cx="329184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  <a:latin typeface="Calibri"/>
              </a:rPr>
              <a:t>ML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5D5B2"/>
                </a:solidFill>
                <a:latin typeface="Calibri"/>
              </a:rPr>
              <a:t>github.com/your-username/data_analysis_portfolio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PORTFOLIO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Calibri"/>
              </a:rPr>
              <a:t>5 domains · 6 ML models · 25 visualizations · Professional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194560" cy="48463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258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0116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Sales
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0175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8F3DC"/>
                </a:solidFill>
                <a:latin typeface="Calibri"/>
              </a:rPr>
              <a:t>5,000 records
RFM · K-Means
Trends · Heatmap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188720"/>
            <a:ext cx="2194560" cy="48463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3258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0116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Healthcare
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0175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8F3DC"/>
                </a:solidFill>
                <a:latin typeface="Calibri"/>
              </a:rPr>
              <a:t>3,000 records
Logistic Reg.
Dept. Metrics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188720"/>
            <a:ext cx="2194560" cy="48463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3258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0116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Sports
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0175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8F3DC"/>
                </a:solidFill>
                <a:latin typeface="Calibri"/>
              </a:rPr>
              <a:t>500 players
Random Forest
Clustering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1188720"/>
            <a:ext cx="2194560" cy="48463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3258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0116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Financial
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0175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8F3DC"/>
                </a:solidFill>
                <a:latin typeface="Calibri"/>
              </a:rPr>
              <a:t>2,500 rows
Monte Carlo
Sharpe Ratio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1188720"/>
            <a:ext cx="2194560" cy="4846320"/>
          </a:xfrm>
          <a:prstGeom prst="rect">
            <a:avLst/>
          </a:prstGeom>
          <a:solidFill>
            <a:srgbClr val="95D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13258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0116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E-commerce
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30175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8F3DC"/>
                </a:solidFill>
                <a:latin typeface="Calibri"/>
              </a:rPr>
              <a:t>8,000 orders
Cohort Analysis
RFM Segments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5156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  <a:latin typeface="Calibri"/>
              </a:rPr>
              <a:t>PROJECT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1148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4332"/>
                </a:solidFill>
                <a:latin typeface="Calibri"/>
              </a:rPr>
              <a:t>Retail Sales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04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5,000 sales records  |  2022–2023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651760" cy="100584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07592"/>
            <a:ext cx="265176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4332"/>
                </a:solidFill>
                <a:latin typeface="Calibri"/>
              </a:rPr>
              <a:t>₹32M+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57476"/>
            <a:ext cx="26517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  <a:latin typeface="Calibri"/>
              </a:rPr>
              <a:t>Total Revenue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234440"/>
            <a:ext cx="2651760" cy="100584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307592"/>
            <a:ext cx="265176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4332"/>
                </a:solidFill>
                <a:latin typeface="Calibri"/>
              </a:rPr>
              <a:t>Electronics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57476"/>
            <a:ext cx="26517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  <a:latin typeface="Calibri"/>
              </a:rPr>
              <a:t>Top Category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234440"/>
            <a:ext cx="2651760" cy="100584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307592"/>
            <a:ext cx="265176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4332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757476"/>
            <a:ext cx="26517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  <a:latin typeface="Calibri"/>
              </a:rPr>
              <a:t>RFM Segments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234440"/>
            <a:ext cx="2651760" cy="100584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307592"/>
            <a:ext cx="265176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4332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1757476"/>
            <a:ext cx="26517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  <a:latin typeface="Calibri"/>
              </a:rPr>
              <a:t>Charts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68880"/>
            <a:ext cx="5303520" cy="3931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606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Calibri"/>
              </a:rPr>
              <a:t>📊 Techniques Used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1546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• Time series groupby &amp; resample (monthly trends)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611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• RFM scoring with pd.qcut (Recency, Frequency, Monetary)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0690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• K-Means clustering for customer segments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5262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• Region × Category revenue heatmap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9834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• Discount vs Profit correlation &amp; trend 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2468880"/>
            <a:ext cx="5897880" cy="393192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2606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Calibri"/>
              </a:rPr>
              <a:t>📈 Charts Generated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1546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6A4F"/>
                </a:solidFill>
                <a:latin typeface="Calibri"/>
              </a:rPr>
              <a:t>01_monthly_trend.png — Revenue line chart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6118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6A4F"/>
                </a:solidFill>
                <a:latin typeface="Calibri"/>
              </a:rPr>
              <a:t>02_product_performance.png — Bar + Pie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0690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6A4F"/>
                </a:solidFill>
                <a:latin typeface="Calibri"/>
              </a:rPr>
              <a:t>03_regional_heatmap.png — Region×Category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526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6A4F"/>
                </a:solidFill>
                <a:latin typeface="Calibri"/>
              </a:rPr>
              <a:t>04_rfm_segments.png — Segments + Scatter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9834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6A4F"/>
                </a:solidFill>
                <a:latin typeface="Calibri"/>
              </a:rPr>
              <a:t>05_discount_profit.png — Trend scatter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  <a:latin typeface="Calibri"/>
              </a:rPr>
              <a:t>💡 Key Insight: Top 20% customers generate 65% of total revenue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5156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  <a:latin typeface="Calibri"/>
              </a:rPr>
              <a:t>PROJECT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114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4332"/>
                </a:solidFill>
                <a:latin typeface="Calibri"/>
              </a:rPr>
              <a:t>Healthcare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04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3,000 patient records  |  5 departments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651760" cy="100584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07592"/>
            <a:ext cx="265176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4332"/>
                </a:solidFill>
                <a:latin typeface="Calibri"/>
              </a:rPr>
              <a:t>3,000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57476"/>
            <a:ext cx="26517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  <a:latin typeface="Calibri"/>
              </a:rPr>
              <a:t>Patients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234440"/>
            <a:ext cx="2651760" cy="100584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307592"/>
            <a:ext cx="265176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4332"/>
                </a:solidFill>
                <a:latin typeface="Calibri"/>
              </a:rPr>
              <a:t>₹44,883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57476"/>
            <a:ext cx="26517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  <a:latin typeface="Calibri"/>
              </a:rPr>
              <a:t>Avg 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234440"/>
            <a:ext cx="2651760" cy="100584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307592"/>
            <a:ext cx="265176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4332"/>
                </a:solidFill>
                <a:latin typeface="Calibri"/>
              </a:rPr>
              <a:t>8.9%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757476"/>
            <a:ext cx="26517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  <a:latin typeface="Calibri"/>
              </a:rPr>
              <a:t>Readmit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234440"/>
            <a:ext cx="2651760" cy="100584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307592"/>
            <a:ext cx="265176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4332"/>
                </a:solidFill>
                <a:latin typeface="Calibri"/>
              </a:rPr>
              <a:t>3.99/5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1757476"/>
            <a:ext cx="26517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  <a:latin typeface="Calibri"/>
              </a:rPr>
              <a:t>Satisfaction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68880"/>
            <a:ext cx="5303520" cy="3931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606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Calibri"/>
              </a:rPr>
              <a:t>🤖 ML Model: Logistic Regression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154680"/>
            <a:ext cx="49377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• Predicts patient readmission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593592"/>
            <a:ext cx="49377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• Features: Age, LengthOfStay, Cost,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032504"/>
            <a:ext cx="49377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  Satisfaction, Department, Insurance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471416"/>
            <a:ext cx="49377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• ROC-AUC score reported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910328"/>
            <a:ext cx="49377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• Feature importance bar chart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349240"/>
            <a:ext cx="49377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• Label encoding for categorical vars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2468880"/>
            <a:ext cx="5897880" cy="393192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2606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Calibri"/>
              </a:rPr>
              <a:t>📈 Charts Generated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1546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6A4F"/>
                </a:solidFill>
                <a:latin typeface="Calibri"/>
              </a:rPr>
              <a:t>01_department_metrics.png — 4-panel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6118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6A4F"/>
                </a:solidFill>
                <a:latin typeface="Calibri"/>
              </a:rPr>
              <a:t>02_demographics.png — Cost by age + gender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0690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6A4F"/>
                </a:solidFill>
                <a:latin typeface="Calibri"/>
              </a:rPr>
              <a:t>03_readmission_features.png — ML importance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526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6A4F"/>
                </a:solidFill>
                <a:latin typeface="Calibri"/>
              </a:rPr>
              <a:t>04_satisfaction_kde.png — KDE by dept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  <a:latin typeface="Calibri"/>
              </a:rPr>
              <a:t>💡 Key Insight: Pediatrics has highest satisfaction; early discharge cuts readmission by 25%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5156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  <a:latin typeface="Calibri"/>
              </a:rPr>
              <a:t>PROJECT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114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4332"/>
                </a:solidFill>
                <a:latin typeface="Calibri"/>
              </a:rPr>
              <a:t>Sports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04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500 player records  |  8 teams  |  4 positions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651760" cy="100584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07592"/>
            <a:ext cx="265176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4332"/>
                </a:solidFill>
                <a:latin typeface="Calibri"/>
              </a:rPr>
              <a:t>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57476"/>
            <a:ext cx="26517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  <a:latin typeface="Calibri"/>
              </a:rPr>
              <a:t>Players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234440"/>
            <a:ext cx="2651760" cy="100584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307592"/>
            <a:ext cx="265176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4332"/>
                </a:solidFill>
                <a:latin typeface="Calibri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57476"/>
            <a:ext cx="26517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  <a:latin typeface="Calibri"/>
              </a:rPr>
              <a:t>Teams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234440"/>
            <a:ext cx="2651760" cy="100584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307592"/>
            <a:ext cx="265176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4332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757476"/>
            <a:ext cx="26517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  <a:latin typeface="Calibri"/>
              </a:rPr>
              <a:t>Clusters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234440"/>
            <a:ext cx="2651760" cy="100584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307592"/>
            <a:ext cx="265176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4332"/>
                </a:solidFill>
                <a:latin typeface="Calibri"/>
              </a:rPr>
              <a:t>7.07/10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1757476"/>
            <a:ext cx="26517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  <a:latin typeface="Calibri"/>
              </a:rPr>
              <a:t>Avg Rating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68880"/>
            <a:ext cx="5303520" cy="3931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606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Calibri"/>
              </a:rPr>
              <a:t>🤖 ML Models Used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154680"/>
            <a:ext cx="49377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Random Forest Regressor: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584448"/>
            <a:ext cx="49377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  → Predicts player market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014216"/>
            <a:ext cx="49377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  → R² score + MAE 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443984"/>
            <a:ext cx="49377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  → Feature importance chart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873752"/>
            <a:ext cx="49377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K-Means Clustering: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303520"/>
            <a:ext cx="49377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  → 4 player performance profiles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733288"/>
            <a:ext cx="49377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  → Silhouette score validation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468880"/>
            <a:ext cx="5897880" cy="393192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2606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Calibri"/>
              </a:rPr>
              <a:t>📈 Charts Generated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1546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6A4F"/>
                </a:solidFill>
                <a:latin typeface="Calibri"/>
              </a:rPr>
              <a:t>01_top_players.png — Goals + Assists bar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36118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6A4F"/>
                </a:solidFill>
                <a:latin typeface="Calibri"/>
              </a:rPr>
              <a:t>02_team_comparison.png — Team metrics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0690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6A4F"/>
                </a:solidFill>
                <a:latin typeface="Calibri"/>
              </a:rPr>
              <a:t>03_position_heatmap.png — Avg by position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526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6A4F"/>
                </a:solidFill>
                <a:latin typeface="Calibri"/>
              </a:rPr>
              <a:t>04_market_value_features.png — RF importance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49834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6A4F"/>
                </a:solidFill>
                <a:latin typeface="Calibri"/>
              </a:rPr>
              <a:t>05_player_clusters.png — K-Means scatter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  <a:latin typeface="Calibri"/>
              </a:rPr>
              <a:t>💡 Key Insight: Rating &amp; Goals are top predictors of market value; Forwards cluster highest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5156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  <a:latin typeface="Calibri"/>
              </a:rPr>
              <a:t>PROJECT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114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4332"/>
                </a:solidFill>
                <a:latin typeface="Calibri"/>
              </a:rPr>
              <a:t>Financial Market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04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500 trading days  |  5 stock tickers  |  2,500 rows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651760" cy="100584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07592"/>
            <a:ext cx="265176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4332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57476"/>
            <a:ext cx="26517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  <a:latin typeface="Calibri"/>
              </a:rPr>
              <a:t>Tickers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234440"/>
            <a:ext cx="2651760" cy="100584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307592"/>
            <a:ext cx="265176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4332"/>
                </a:solidFill>
                <a:latin typeface="Calibri"/>
              </a:rPr>
              <a:t>2,000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57476"/>
            <a:ext cx="26517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  <a:latin typeface="Calibri"/>
              </a:rPr>
              <a:t>Portfolios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234440"/>
            <a:ext cx="2651760" cy="100584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307592"/>
            <a:ext cx="265176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4332"/>
                </a:solidFill>
                <a:latin typeface="Calibri"/>
              </a:rPr>
              <a:t>~1.98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757476"/>
            <a:ext cx="26517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  <a:latin typeface="Calibri"/>
              </a:rPr>
              <a:t>Best Sharpe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234440"/>
            <a:ext cx="2651760" cy="100584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307592"/>
            <a:ext cx="265176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4332"/>
                </a:solidFill>
                <a:latin typeface="Calibri"/>
              </a:rPr>
              <a:t>~36.6%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1757476"/>
            <a:ext cx="26517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  <a:latin typeface="Calibri"/>
              </a:rPr>
              <a:t>Best Return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68880"/>
            <a:ext cx="5303520" cy="3931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606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Calibri"/>
              </a:rPr>
              <a:t>📊 Monte Carlo Simulation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1546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• 2,000 random portfolio combinations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611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• Calculates annualised return &amp; volatility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0690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• Finds optimal Sharpe Ratio portfolio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5262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• Efficient Frontier scatter plot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9834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• 21-day rolling volatility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4406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• Return correlation matrix (heatmap)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2468880"/>
            <a:ext cx="5897880" cy="393192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2606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Calibri"/>
              </a:rPr>
              <a:t>📈 Charts Generated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1546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6A4F"/>
                </a:solidFill>
                <a:latin typeface="Calibri"/>
              </a:rPr>
              <a:t>01_price_trends.png — Multi-line stock chart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6118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6A4F"/>
                </a:solidFill>
                <a:latin typeface="Calibri"/>
              </a:rPr>
              <a:t>02_returns_distribution.png — Histograms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0690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6A4F"/>
                </a:solidFill>
                <a:latin typeface="Calibri"/>
              </a:rPr>
              <a:t>03_correlation_matrix.png — Heatmap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526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6A4F"/>
                </a:solidFill>
                <a:latin typeface="Calibri"/>
              </a:rPr>
              <a:t>04_rolling_volatility.png — 21-day vol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9834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6A4F"/>
                </a:solidFill>
                <a:latin typeface="Calibri"/>
              </a:rPr>
              <a:t>05_efficient_frontier.png — Monte Carlo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  <a:latin typeface="Calibri"/>
              </a:rPr>
              <a:t>💡 Key Insight: TECH &amp; HEALTH are least correlated — ideal diversification pair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5D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5156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  <a:latin typeface="Calibri"/>
              </a:rPr>
              <a:t>PROJECT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114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4332"/>
                </a:solidFill>
                <a:latin typeface="Calibri"/>
              </a:rPr>
              <a:t>E-commerce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04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8,000 order records  |  5 categories  |  3 devices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651760" cy="100584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07592"/>
            <a:ext cx="265176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4332"/>
                </a:solidFill>
                <a:latin typeface="Calibri"/>
              </a:rPr>
              <a:t>₹70.3M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57476"/>
            <a:ext cx="26517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  <a:latin typeface="Calibri"/>
              </a:rPr>
              <a:t>Total Revenue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234440"/>
            <a:ext cx="2651760" cy="100584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307592"/>
            <a:ext cx="265176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4332"/>
                </a:solidFill>
                <a:latin typeface="Calibri"/>
              </a:rPr>
              <a:t>14.9%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57476"/>
            <a:ext cx="26517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  <a:latin typeface="Calibri"/>
              </a:rPr>
              <a:t>Return 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234440"/>
            <a:ext cx="2651760" cy="100584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307592"/>
            <a:ext cx="265176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4332"/>
                </a:solidFill>
                <a:latin typeface="Calibri"/>
              </a:rPr>
              <a:t>55%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757476"/>
            <a:ext cx="26517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  <a:latin typeface="Calibri"/>
              </a:rPr>
              <a:t>Mobile Orders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234440"/>
            <a:ext cx="2651760" cy="100584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307592"/>
            <a:ext cx="265176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4332"/>
                </a:solidFill>
                <a:latin typeface="Calibri"/>
              </a:rPr>
              <a:t>₹2,192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1757476"/>
            <a:ext cx="265176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  <a:latin typeface="Calibri"/>
              </a:rPr>
              <a:t>Avg Order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68880"/>
            <a:ext cx="5303520" cy="3931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606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Calibri"/>
              </a:rPr>
              <a:t>📊 Cohort Retention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1546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• Tracks customer return month-over-month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611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• CohortMonth = first purchase 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0690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• Heatmap shows retention % over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5262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• RFM segmentation (shared utility)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9834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• Device + category revenue breakdown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4406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• Return rate &amp; delivery time analysis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2468880"/>
            <a:ext cx="5897880" cy="393192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2606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Calibri"/>
              </a:rPr>
              <a:t>📈 Charts Generated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1546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6A4F"/>
                </a:solidFill>
                <a:latin typeface="Calibri"/>
              </a:rPr>
              <a:t>01_category_device.png — Revenue + device pie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6118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6A4F"/>
                </a:solidFill>
                <a:latin typeface="Calibri"/>
              </a:rPr>
              <a:t>02_monthly_trend.png — Revenue line chart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0690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6A4F"/>
                </a:solidFill>
                <a:latin typeface="Calibri"/>
              </a:rPr>
              <a:t>03_returns_delivery.png — Return &amp; delivery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526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6A4F"/>
                </a:solidFill>
                <a:latin typeface="Calibri"/>
              </a:rPr>
              <a:t>04_customer_segments.png — RFM segments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9834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6A4F"/>
                </a:solidFill>
                <a:latin typeface="Calibri"/>
              </a:rPr>
              <a:t>05_cohort_retention.png — Retention heatmap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  <a:latin typeface="Calibri"/>
              </a:rPr>
              <a:t>💡 Key Insight: Mobile drives 55% of orders; Electronics is top revenue category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TOOLS &amp;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5D5B2"/>
                </a:solidFill>
                <a:latin typeface="Calibri"/>
              </a:rPr>
              <a:t>Professional stack used across all 5 projects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566160" cy="21945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pandas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8F3DC"/>
                </a:solidFill>
                <a:latin typeface="Calibri"/>
              </a:rPr>
              <a:t>Data manipulation,
groupby, resample,
pivot tables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371600"/>
            <a:ext cx="3566160" cy="21945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5087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numpy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0574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8F3DC"/>
                </a:solidFill>
                <a:latin typeface="Calibri"/>
              </a:rPr>
              <a:t>Numerical ops,
Monte Carlo sim,
array processing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1371600"/>
            <a:ext cx="3566160" cy="219456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5087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matplotlib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0574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8F3DC"/>
                </a:solidFill>
                <a:latin typeface="Calibri"/>
              </a:rPr>
              <a:t>Line charts, bar
charts, scatter,
histograms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3566160" cy="219456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9776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seaborn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8F3DC"/>
                </a:solidFill>
                <a:latin typeface="Calibri"/>
              </a:rPr>
              <a:t>Heatmaps, KDE
plots, advanced
visualizations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840480"/>
            <a:ext cx="3566160" cy="2194560"/>
          </a:xfrm>
          <a:prstGeom prst="rect">
            <a:avLst/>
          </a:prstGeom>
          <a:solidFill>
            <a:srgbClr val="95D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39776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scikit-learn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52628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8F3DC"/>
                </a:solidFill>
                <a:latin typeface="Calibri"/>
              </a:rPr>
              <a:t>Logistic Reg.
Random Forest
K-Means, Scaler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3840480"/>
            <a:ext cx="3566160" cy="2194560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9776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Shared Utils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52628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8F3DC"/>
                </a:solidFill>
                <a:latin typeface="Calibri"/>
              </a:rPr>
              <a:t>analysis_utils.py
Reusable data
generators + RFM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5D5B2"/>
                </a:solidFill>
                <a:latin typeface="Calibri"/>
              </a:rPr>
              <a:t>portfolio_summary.py — Master runner executes all 5 projects in one command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KEY TAKEAWAYS &amp;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80160"/>
            <a:ext cx="5669280" cy="150876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1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Calibri"/>
              </a:rPr>
              <a:t>🎯 End-to-End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5 complete projects covering Business, Healthcare, Sports, Finance, and E-commerce domains with real analytical depth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79" y="1280160"/>
            <a:ext cx="5669280" cy="150876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1731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Calibri"/>
              </a:rPr>
              <a:t>🤖 ML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6 machine learning models including Logistic Regression, Random Forest, K-Means, and Monte Carlo simulation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971800"/>
            <a:ext cx="5669280" cy="1508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Calibri"/>
              </a:rPr>
              <a:t>🔧 Professional 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2044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Reusable utility module (analysis_utils.py) and master runner (portfolio_summary.py) show software engineering skills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79" y="2971800"/>
            <a:ext cx="5669280" cy="1508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Calibri"/>
              </a:rPr>
              <a:t>📊 25 Visualizations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52044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5 charts per project using matplotlib &amp; seaborn — heatmaps, scatter, KDE, efficient frontier, cohort retention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663440"/>
            <a:ext cx="5669280" cy="150876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Calibri"/>
              </a:rPr>
              <a:t>💼 Business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12079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Each project answers real business questions and generates actionable recommendations for stakeholders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79" y="4663440"/>
            <a:ext cx="5669280" cy="150876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800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Calibri"/>
              </a:rPr>
              <a:t>📁 Clean Documentation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212079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Complete README, requirements.txt, datasets/, reports/, and presentation/ folders — submission 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446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6A4F"/>
                </a:solidFill>
                <a:latin typeface="Calibri"/>
              </a:rPr>
              <a:t>✅ Submission Ready — Code Quality ⭐⭐⭐⭐⭐  |  ML Usage ⭐⭐⭐⭐⭐  |  Structure ⭐⭐⭐⭐⭐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